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88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71" r:id="rId13"/>
    <p:sldId id="266" r:id="rId14"/>
    <p:sldId id="267" r:id="rId15"/>
    <p:sldId id="268" r:id="rId16"/>
    <p:sldId id="269" r:id="rId17"/>
    <p:sldId id="272" r:id="rId18"/>
    <p:sldId id="280" r:id="rId19"/>
    <p:sldId id="278" r:id="rId20"/>
    <p:sldId id="277" r:id="rId21"/>
    <p:sldId id="276" r:id="rId22"/>
    <p:sldId id="275" r:id="rId23"/>
    <p:sldId id="274" r:id="rId24"/>
    <p:sldId id="273" r:id="rId25"/>
    <p:sldId id="287" r:id="rId26"/>
    <p:sldId id="286" r:id="rId27"/>
    <p:sldId id="265" r:id="rId28"/>
    <p:sldId id="285" r:id="rId29"/>
    <p:sldId id="284" r:id="rId30"/>
    <p:sldId id="283" r:id="rId31"/>
    <p:sldId id="282" r:id="rId32"/>
    <p:sldId id="289" r:id="rId33"/>
    <p:sldId id="290" r:id="rId34"/>
    <p:sldId id="279" r:id="rId35"/>
    <p:sldId id="292" r:id="rId36"/>
    <p:sldId id="293" r:id="rId37"/>
    <p:sldId id="291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34152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5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9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2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2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7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28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8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5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48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74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54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69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41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28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0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4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863850" y="3429000"/>
            <a:ext cx="6280150" cy="187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           </a:t>
            </a:r>
            <a:r>
              <a:rPr lang="en-US" b="1" dirty="0">
                <a:solidFill>
                  <a:srgbClr val="FFFF00"/>
                </a:solidFill>
              </a:rPr>
              <a:t>CAPSTONE PROJECT-2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                            </a:t>
            </a:r>
            <a:r>
              <a:rPr lang="en-US" b="1" i="1" dirty="0">
                <a:solidFill>
                  <a:srgbClr val="FFFF00"/>
                </a:solidFill>
              </a:rPr>
              <a:t>Victor Xavier Vijay M</a:t>
            </a:r>
            <a:br>
              <a:rPr lang="en-US" b="1" i="1" dirty="0">
                <a:solidFill>
                  <a:srgbClr val="FFFF00"/>
                </a:solidFill>
              </a:rPr>
            </a:br>
            <a:r>
              <a:rPr lang="en-US" b="1" i="1">
                <a:solidFill>
                  <a:srgbClr val="FFFF00"/>
                </a:solidFill>
              </a:rPr>
              <a:t>                             </a:t>
            </a:r>
            <a:endParaRPr lang="en-IN" b="1" dirty="0">
              <a:solidFill>
                <a:srgbClr val="FFFF00"/>
              </a:solidFill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2863850" y="1219200"/>
            <a:ext cx="6280150" cy="8382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202C8F"/>
                </a:solidFill>
              </a:rPr>
            </a:br>
            <a:br>
              <a:rPr lang="en-US" b="1" dirty="0">
                <a:solidFill>
                  <a:srgbClr val="202C8F"/>
                </a:solidFill>
              </a:rPr>
            </a:b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NIIT </a:t>
            </a:r>
            <a:br>
              <a:rPr lang="en-US" b="1" dirty="0"/>
            </a:b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Batch</a:t>
            </a: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: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MARCH-2026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b="1" dirty="0"/>
              <a:t>“</a:t>
            </a:r>
            <a:r>
              <a:rPr lang="en-US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RECIPE -MANAGER”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500"/>
            <a:ext cx="8229600" cy="6635750"/>
          </a:xfrm>
        </p:spPr>
        <p:txBody>
          <a:bodyPr>
            <a:normAutofit fontScale="90000"/>
          </a:bodyPr>
          <a:lstStyle/>
          <a:p>
            <a:br>
              <a:rPr lang="en-US" sz="2200" b="1" cap="all" dirty="0"/>
            </a:br>
            <a:r>
              <a:rPr lang="en-US" sz="2200" b="1" cap="all" dirty="0"/>
              <a:t>O</a:t>
            </a:r>
            <a:r>
              <a:rPr lang="en-IN" sz="2200" b="1" cap="all" dirty="0"/>
              <a:t>BJECTIVE: </a:t>
            </a:r>
            <a:br>
              <a:rPr lang="en-IN" sz="2200" b="1" cap="all" dirty="0"/>
            </a:br>
            <a:br>
              <a:rPr lang="en-IN" sz="2200" b="1" cap="all" dirty="0"/>
            </a:b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0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Recipe Master Database Project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comprehensive relational database management system (RDBMS) designed to store, manage, and analyse culinary data.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this SQL structure, the project enables advanced business and culinary insights, such as:</a:t>
            </a:r>
            <a:br>
              <a:rPr lang="en-IN" sz="2000" dirty="0"/>
            </a:br>
            <a:br>
              <a:rPr lang="en-IN" sz="1800" dirty="0"/>
            </a:br>
            <a:r>
              <a:rPr lang="en-IN" sz="16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Nutritional Analysis: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high-protein/low-carb meals or calculating average calories per serving category.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Insights: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the most cost-effective recipes based on price-to-serving ratios.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Popularity Trends: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Analysing which recipes receive the highest ratings relative to their review volume.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Inventory/Ingredient Mapping: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Instantly generating shopping lists or finding recipes that use specific overlapping ingredients (e.g., "Find all recipes using Eggs and Flour").</a:t>
            </a:r>
            <a:br>
              <a:rPr lang="en-IN" sz="1800" dirty="0"/>
            </a:br>
            <a:br>
              <a:rPr lang="en-IN" sz="1600" b="1" dirty="0"/>
            </a:br>
            <a:br>
              <a:rPr lang="en-IN" sz="1600" b="1" dirty="0"/>
            </a:br>
            <a:r>
              <a:rPr lang="en-IN" sz="2200" b="1" cap="all" dirty="0"/>
              <a:t>Data Cleaning / Normalisation: </a:t>
            </a:r>
            <a:br>
              <a:rPr lang="en-IN" sz="2200" b="1" cap="all" dirty="0"/>
            </a:br>
            <a:br>
              <a:rPr lang="en-IN" sz="2400" b="1" cap="all" dirty="0"/>
            </a:br>
            <a:r>
              <a:rPr lang="en-IN" sz="2000" b="1" dirty="0"/>
              <a:t> </a:t>
            </a:r>
            <a:r>
              <a:rPr lang="en-IN" sz="2000" dirty="0"/>
              <a:t>Successfully converted a "flat" dataset into a relational model. By separating ingredients into a different tables.</a:t>
            </a:r>
            <a:br>
              <a:rPr lang="en-IN" sz="2000" dirty="0"/>
            </a:br>
            <a:r>
              <a:rPr lang="en-IN" sz="2000" dirty="0"/>
              <a:t>Converted strings into DECIMAL(10,2) for financial accuracy.</a:t>
            </a:r>
            <a:br>
              <a:rPr lang="en-IN" sz="2000" dirty="0"/>
            </a:br>
            <a:r>
              <a:rPr lang="en-IN" sz="2000" dirty="0"/>
              <a:t>Formatted timestamps into proper DATETIME objects for chronological analysis.</a:t>
            </a:r>
            <a:br>
              <a:rPr lang="en-IN" sz="1600" dirty="0"/>
            </a:b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378C3E-BD54-5DFF-C224-1D17FF7A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4862"/>
          </a:xfrm>
        </p:spPr>
        <p:txBody>
          <a:bodyPr>
            <a:normAutofit fontScale="90000"/>
          </a:bodyPr>
          <a:lstStyle/>
          <a:p>
            <a:br>
              <a:rPr lang="en-IN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3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ERD Diagram:</a:t>
            </a:r>
            <a:br>
              <a:rPr lang="en-IN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C8F19-5AFA-3E14-EF14-7B81FDC59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136650"/>
            <a:ext cx="4038600" cy="4273549"/>
          </a:xfrm>
        </p:spPr>
        <p:txBody>
          <a:bodyPr>
            <a:normAutofit fontScale="92500" lnSpcReduction="10000"/>
          </a:bodyPr>
          <a:lstStyle/>
          <a:p>
            <a:r>
              <a:rPr lang="en-IN" sz="1800" dirty="0"/>
              <a:t>To optimize the system, the project uses a </a:t>
            </a:r>
            <a:r>
              <a:rPr lang="en-IN" sz="1800" b="1" dirty="0">
                <a:solidFill>
                  <a:srgbClr val="7030A0"/>
                </a:solidFill>
              </a:rPr>
              <a:t>Normalized Relational Model </a:t>
            </a:r>
            <a:r>
              <a:rPr lang="en-IN" sz="1800" dirty="0"/>
              <a:t>consisting of three primary tables:</a:t>
            </a:r>
          </a:p>
          <a:p>
            <a:endParaRPr lang="en-IN" sz="1800" dirty="0"/>
          </a:p>
          <a:p>
            <a:pPr lvl="0"/>
            <a:r>
              <a:rPr lang="en-IN" sz="1800" b="1" dirty="0">
                <a:solidFill>
                  <a:srgbClr val="7030A0"/>
                </a:solidFill>
              </a:rPr>
              <a:t>Recipes Table: </a:t>
            </a:r>
            <a:r>
              <a:rPr lang="en-IN" sz="1800" dirty="0"/>
              <a:t>Stores core identity and metadata (Names, IDs, Ratings, Timestamps).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>
                <a:solidFill>
                  <a:srgbClr val="7030A0"/>
                </a:solidFill>
              </a:rPr>
              <a:t>Nutrition Table: </a:t>
            </a:r>
            <a:r>
              <a:rPr lang="en-IN" sz="1800" dirty="0"/>
              <a:t>Stores health-specific data (Calories, Macros, Cholesterol).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>
                <a:solidFill>
                  <a:srgbClr val="7030A0"/>
                </a:solidFill>
              </a:rPr>
              <a:t>Ingredients Table: </a:t>
            </a:r>
            <a:r>
              <a:rPr lang="en-IN" sz="1800" dirty="0"/>
              <a:t>A one-to-many table allowing for granular searching of individual ingredients.</a:t>
            </a:r>
          </a:p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9E46649-8146-2333-403E-E9566A69C0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0" y="1136650"/>
            <a:ext cx="4114800" cy="40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8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0" y="342900"/>
            <a:ext cx="6261100" cy="673100"/>
          </a:xfrm>
        </p:spPr>
        <p:txBody>
          <a:bodyPr>
            <a:normAutofit/>
          </a:bodyPr>
          <a:lstStyle/>
          <a:p>
            <a:r>
              <a:rPr lang="en-US" sz="3200" b="1" dirty="0"/>
              <a:t>Ingredient Inventory Management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8900" y="1362456"/>
            <a:ext cx="4787900" cy="3222245"/>
          </a:xfrm>
        </p:spPr>
        <p:txBody>
          <a:bodyPr>
            <a:normAutofit lnSpcReduction="10000"/>
          </a:bodyPr>
          <a:lstStyle/>
          <a:p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The kitchen manager needs to know how many unique recipes use "Chicken" to plan bulk purchasing.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US" sz="1800" dirty="0"/>
              <a:t>By placing wildcards on both sides, the query finds "Chicken" regardless of where it appears in the string. It will catch "Chicken Breast," "Diced Chicken," or "Organic Roast Chicken."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DCBD58-B67E-808F-36A7-A34264AF6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-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C1AE8-12B5-C264-1BCE-0A6F53F42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93850"/>
            <a:ext cx="3346450" cy="36322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2DB33D8-8FFA-CDD4-DCFC-2AF0D592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673099"/>
          </a:xfrm>
        </p:spPr>
        <p:txBody>
          <a:bodyPr>
            <a:normAutofit fontScale="90000"/>
          </a:bodyPr>
          <a:lstStyle/>
          <a:p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r>
              <a:rPr lang="en-US" sz="3600" b="1" dirty="0"/>
              <a:t>Low-Stock “Quick Fix Meals</a:t>
            </a:r>
            <a:br>
              <a:rPr lang="en-US" sz="2200" b="1" dirty="0"/>
            </a:br>
            <a:br>
              <a:rPr lang="en-US" sz="2200" b="1" dirty="0"/>
            </a:br>
            <a:br>
              <a:rPr lang="en-IN" sz="2200" dirty="0"/>
            </a:br>
            <a:endParaRPr lang="en-IN" sz="2200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CC5AE1C5-2458-1394-9520-BC911327B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2133" y="1600200"/>
            <a:ext cx="3107267" cy="2901950"/>
          </a:xfrm>
        </p:spPr>
        <p:txBody>
          <a:bodyPr>
            <a:normAutofit fontScale="92500" lnSpcReduction="20000"/>
          </a:bodyPr>
          <a:lstStyle/>
          <a:p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A user has very little time and needs a recipe that takes less than 20 minutes and requires 4 or fewer ingredients.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US" sz="1800" dirty="0"/>
              <a:t>This demonstrates the ability to perform calculations on one table and filter based on another.</a:t>
            </a: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F382077-66A1-12EB-0BC7-74DECBF86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F320B40-19DB-D9EE-7D4D-0B1E8BA97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600200"/>
            <a:ext cx="4432300" cy="283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309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685799"/>
          </a:xfrm>
        </p:spPr>
        <p:txBody>
          <a:bodyPr>
            <a:normAutofit/>
          </a:bodyPr>
          <a:lstStyle/>
          <a:p>
            <a:r>
              <a:rPr lang="en-US" sz="3200" b="1" dirty="0"/>
              <a:t>High-Value Menu Analysis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750" y="1371600"/>
            <a:ext cx="4337050" cy="4754563"/>
          </a:xfrm>
        </p:spPr>
        <p:txBody>
          <a:bodyPr>
            <a:normAutofit lnSpcReduction="10000"/>
          </a:bodyPr>
          <a:lstStyle/>
          <a:p>
            <a:pPr marL="0" indent="0">
              <a:buFont typeface="Arial"/>
              <a:buNone/>
            </a:pPr>
            <a:endParaRPr lang="en-US" sz="1800" dirty="0"/>
          </a:p>
          <a:p>
            <a:pPr marL="0" indent="0">
              <a:buFont typeface="Arial"/>
              <a:buNone/>
            </a:pPr>
            <a:endParaRPr lang="en-US" sz="1800" dirty="0"/>
          </a:p>
          <a:p>
            <a:pPr marL="0" indent="0">
              <a:buFont typeface="Arial"/>
              <a:buNone/>
            </a:pPr>
            <a:endParaRPr lang="en-US" sz="1800" dirty="0"/>
          </a:p>
          <a:p>
            <a:pPr marL="0" indent="0">
              <a:buFont typeface="Arial"/>
              <a:buNone/>
            </a:pPr>
            <a:endParaRPr lang="en-IN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983E25-BCA7-4D4B-03B5-975C372F2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6904" y="1727200"/>
            <a:ext cx="3739896" cy="3327400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Identify the "Premium" recipes—those priced above $20.00—and show their average rating to see if customers feel they are getting their money's worth.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US" sz="1800" dirty="0"/>
              <a:t>Helps a restaurant owner decide if expensive items should stay on the menu based on quality.</a:t>
            </a:r>
            <a:endParaRPr lang="en-IN" sz="1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57A50-9AA6-5F14-3094-B783F1499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6" y="1676400"/>
            <a:ext cx="42672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730249"/>
          </a:xfrm>
        </p:spPr>
        <p:txBody>
          <a:bodyPr>
            <a:normAutofit/>
          </a:bodyPr>
          <a:lstStyle/>
          <a:p>
            <a:r>
              <a:rPr lang="en-US" sz="3200" b="1" dirty="0"/>
              <a:t>Identifying "Data Gaps"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1727200"/>
            <a:ext cx="3739896" cy="334645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The system administrator needs to find any recipes that were created but haven't had their nutritional information entered yet.</a:t>
            </a:r>
          </a:p>
          <a:p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US" sz="1800" dirty="0"/>
              <a:t>This is a standard "Null Check" to ensure data completeness across a normalized database.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99A0E4-C06A-3C25-87DE-486AB53C13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70450" y="1828800"/>
            <a:ext cx="393065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77045"/>
            <a:ext cx="7704667" cy="856455"/>
          </a:xfrm>
        </p:spPr>
        <p:txBody>
          <a:bodyPr>
            <a:normAutofit/>
          </a:bodyPr>
          <a:lstStyle/>
          <a:p>
            <a:r>
              <a:rPr lang="en-US" sz="3200" b="1" dirty="0"/>
              <a:t>Most Popular "Efficiency" Recipes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4B84B-88E2-2616-761B-55BC0A8656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  <a:endParaRPr lang="en-IN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566102-32DC-5604-48D6-1A2D36FC3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6904" y="1600200"/>
            <a:ext cx="3739896" cy="3498850"/>
          </a:xfrm>
        </p:spPr>
        <p:txBody>
          <a:bodyPr>
            <a:normAutofit/>
          </a:bodyPr>
          <a:lstStyle/>
          <a:p>
            <a:r>
              <a:rPr lang="en-US" sz="1900" dirty="0"/>
              <a:t> </a:t>
            </a:r>
            <a:r>
              <a:rPr lang="en-US" sz="1900" b="1" dirty="0">
                <a:solidFill>
                  <a:srgbClr val="7030A0"/>
                </a:solidFill>
              </a:rPr>
              <a:t>Requirement: </a:t>
            </a:r>
            <a:r>
              <a:rPr lang="en-US" sz="1900" dirty="0"/>
              <a:t>Find recipes that have a higher-than-average rating but take less time than the average cooking time of all recipes.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b="1" dirty="0">
                <a:solidFill>
                  <a:srgbClr val="7030A0"/>
                </a:solidFill>
              </a:rPr>
              <a:t>Insight:  </a:t>
            </a:r>
            <a:r>
              <a:rPr lang="en-US" sz="1900" dirty="0"/>
              <a:t>This identifies "high-ROI" recipes for busy users—maximum flavor for minimum time. </a:t>
            </a:r>
            <a:endParaRPr lang="en-IN" sz="19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7FC98-9986-01A4-17E2-23BCC6BD1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1600200"/>
            <a:ext cx="3886200" cy="3312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00051"/>
            <a:ext cx="7704667" cy="4441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Automating Frequent Searches </a:t>
            </a:r>
            <a:endParaRPr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1384300"/>
            <a:ext cx="3739896" cy="3263900"/>
          </a:xfrm>
        </p:spPr>
        <p:txBody>
          <a:bodyPr>
            <a:normAutofit fontScale="92500" lnSpcReduction="10000"/>
          </a:bodyPr>
          <a:lstStyle/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Requirement:  </a:t>
            </a:r>
            <a:r>
              <a:rPr lang="en-US" dirty="0"/>
              <a:t>The front-end developers keep asking for the "Top 10 Best Rated" list. Instead of them writing complex SQL, create a virtual table they can just select from.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>
                <a:solidFill>
                  <a:srgbClr val="7030A0"/>
                </a:solidFill>
              </a:rPr>
              <a:t>Insight:  </a:t>
            </a:r>
            <a:r>
              <a:rPr lang="en-US" dirty="0"/>
              <a:t>A View simplifies the interface for other developers and hides the underlying logic.</a:t>
            </a:r>
            <a:endParaRPr lang="en-IN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BEFAB5-2EF9-1336-B7BF-CB588E6CA4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B56132-E94B-6B5C-D54A-E88CCD4B0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43584"/>
            <a:ext cx="4343399" cy="3671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396877"/>
            <a:ext cx="7704667" cy="1038223"/>
          </a:xfrm>
        </p:spPr>
        <p:txBody>
          <a:bodyPr>
            <a:normAutofit/>
          </a:bodyPr>
          <a:lstStyle/>
          <a:p>
            <a:r>
              <a:rPr lang="en-US" sz="3200" b="1" dirty="0"/>
              <a:t>Preventing "Garbage Data" (Constraints)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 </a:t>
            </a:r>
            <a:endParaRPr lang="en-IN" sz="1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2708B-9EE9-07B7-CF7D-1E989D460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6904" y="1581150"/>
            <a:ext cx="3739896" cy="3251200"/>
          </a:xfrm>
        </p:spPr>
        <p:txBody>
          <a:bodyPr>
            <a:normAutofit lnSpcReduction="10000"/>
          </a:bodyPr>
          <a:lstStyle/>
          <a:p>
            <a:r>
              <a:rPr lang="en-US" sz="1900" dirty="0"/>
              <a:t> </a:t>
            </a:r>
            <a:r>
              <a:rPr lang="en-US" sz="1900" b="1" dirty="0">
                <a:solidFill>
                  <a:srgbClr val="7030A0"/>
                </a:solidFill>
              </a:rPr>
              <a:t>Requirement: </a:t>
            </a:r>
            <a:r>
              <a:rPr lang="en-US" sz="1900" dirty="0"/>
              <a:t>Management wants to ensure that no one accidentally enters a recipe with a negative price or a rating higher than 5.</a:t>
            </a:r>
          </a:p>
          <a:p>
            <a:pPr marL="0" indent="0">
              <a:buNone/>
            </a:pPr>
            <a:endParaRPr lang="en-IN" sz="1900" dirty="0"/>
          </a:p>
          <a:p>
            <a:r>
              <a:rPr lang="en-US" sz="1900" b="1" dirty="0">
                <a:solidFill>
                  <a:srgbClr val="7030A0"/>
                </a:solidFill>
              </a:rPr>
              <a:t>Insight:  </a:t>
            </a:r>
            <a:r>
              <a:rPr lang="en-US" sz="1900" dirty="0"/>
              <a:t>Constraints ensure data integrity so the application doesn't crash due to invalid input.</a:t>
            </a:r>
            <a:endParaRPr lang="en-IN" sz="19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006758-E0B4-AAE5-B8E5-FFDC79913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90" y="1739900"/>
            <a:ext cx="4136210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3612"/>
          </a:xfrm>
        </p:spPr>
        <p:txBody>
          <a:bodyPr>
            <a:normAutofit/>
          </a:bodyPr>
          <a:lstStyle/>
          <a:p>
            <a:r>
              <a:rPr lang="en-US" sz="3200" b="1" dirty="0"/>
              <a:t>Analyzing Yearly Content Growth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99E9D-C036-1934-8447-518BF126C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2895600"/>
          </a:xfrm>
        </p:spPr>
        <p:txBody>
          <a:bodyPr/>
          <a:lstStyle/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The platform started in 2023. How many recipes were added in 2024 specifically?</a:t>
            </a:r>
          </a:p>
          <a:p>
            <a:endParaRPr lang="en-IN" sz="1800" dirty="0"/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US" sz="1800" dirty="0"/>
              <a:t>Essential for reporting on business growth and user activity over time.</a:t>
            </a:r>
            <a:endParaRPr lang="en-IN" sz="1800" dirty="0"/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8B6F9A-9992-C1AC-D12D-1CCAD28319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DC6F7-E77C-192D-2B74-DBE6437B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0" y="1543050"/>
            <a:ext cx="4327774" cy="35623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1186CD-DF65-103D-FDC8-CA563307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61951"/>
            <a:ext cx="7704667" cy="977899"/>
          </a:xfrm>
        </p:spPr>
        <p:txBody>
          <a:bodyPr>
            <a:normAutofit/>
          </a:bodyPr>
          <a:lstStyle/>
          <a:p>
            <a:r>
              <a:rPr lang="en-US" sz="3200" b="1" dirty="0"/>
              <a:t>Recipes With Same Cooking Time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1654D3-BB36-32FF-02EA-B1F8708632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5600" y="1803401"/>
            <a:ext cx="4038600" cy="284919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94BCF9-6A0B-7CE8-DFDC-69A529718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3251200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Find recipes having identical cooking times.</a:t>
            </a:r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Finds duplicate values across rows.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01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98451"/>
            <a:ext cx="7704667" cy="888999"/>
          </a:xfrm>
        </p:spPr>
        <p:txBody>
          <a:bodyPr>
            <a:normAutofit/>
          </a:bodyPr>
          <a:lstStyle/>
          <a:p>
            <a:r>
              <a:rPr lang="en-US" sz="3200" b="1" dirty="0"/>
              <a:t>Multi-Criteria Search (Complexity)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1530350"/>
            <a:ext cx="3513668" cy="3340828"/>
          </a:xfrm>
        </p:spPr>
        <p:txBody>
          <a:bodyPr>
            <a:normAutofit lnSpcReduction="10000"/>
          </a:bodyPr>
          <a:lstStyle/>
          <a:p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A user wants a "Vegetarian-friendly" breakfast. Find recipes that do </a:t>
            </a:r>
            <a:r>
              <a:rPr lang="en-US" sz="1800" i="1" dirty="0"/>
              <a:t>not</a:t>
            </a:r>
            <a:r>
              <a:rPr lang="en-US" sz="1800" dirty="0"/>
              <a:t> contain "Beef", "Chicken", or "Pork" and are tagged with a breakfast-related timestamp (morning).</a:t>
            </a:r>
            <a:endParaRPr lang="en-IN" sz="1800" dirty="0"/>
          </a:p>
          <a:p>
            <a:pPr marL="0" indent="0">
              <a:buNone/>
            </a:pPr>
            <a:r>
              <a:rPr lang="en-US" sz="1800" dirty="0"/>
              <a:t>      </a:t>
            </a:r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US" sz="1800" dirty="0"/>
              <a:t>Retrieves unique vegetarian recipes that were created during morning hours.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C4332-B820-0692-0157-1109CCB51C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95450"/>
            <a:ext cx="4038600" cy="3175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33401"/>
            <a:ext cx="7704667" cy="762000"/>
          </a:xfrm>
        </p:spPr>
        <p:txBody>
          <a:bodyPr>
            <a:normAutofit/>
          </a:bodyPr>
          <a:lstStyle/>
          <a:p>
            <a:r>
              <a:rPr lang="en-US" sz="3200" b="1" dirty="0"/>
              <a:t>Dynamic Menu Labels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44A3FF-0ED0-88BD-0066-877CAB49EC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82751"/>
            <a:ext cx="4038600" cy="2928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E4439-FD19-0FAD-AB8C-46DE99226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6904" y="1682751"/>
            <a:ext cx="3739896" cy="2990849"/>
          </a:xfrm>
        </p:spPr>
        <p:txBody>
          <a:bodyPr>
            <a:normAutofit fontScale="92500" lnSpcReduction="20000"/>
          </a:bodyPr>
          <a:lstStyle/>
          <a:p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The UI needs a "Price Tag" display that combines the recipe name and its price with a currency symbol, but only for items cheaper than $15.00.</a:t>
            </a:r>
          </a:p>
          <a:p>
            <a:endParaRPr lang="en-IN" sz="18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This formats data directly in the database to reduce the processing load on the application's front-end.</a:t>
            </a:r>
            <a:endParaRPr lang="en-IN" sz="2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73051"/>
            <a:ext cx="7704667" cy="946150"/>
          </a:xfrm>
        </p:spPr>
        <p:txBody>
          <a:bodyPr>
            <a:normAutofit/>
          </a:bodyPr>
          <a:lstStyle/>
          <a:p>
            <a:r>
              <a:rPr lang="en-US" sz="3200" b="1" dirty="0"/>
              <a:t>Seasonal Price Update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62100"/>
            <a:ext cx="4038600" cy="376337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Due to a seasonal increase in ingredient costs, the manager wants to increase the price of all "Salmon" dishes by 10%.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Shows how to perform bulk updates safely without affecting the entire table.</a:t>
            </a:r>
            <a:endParaRPr lang="en-IN" sz="2000" dirty="0"/>
          </a:p>
          <a:p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0B3AC-F78B-F147-CB1A-A7029A909D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023" y="1651000"/>
            <a:ext cx="3962953" cy="3674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4712"/>
          </a:xfrm>
        </p:spPr>
        <p:txBody>
          <a:bodyPr>
            <a:normAutofit/>
          </a:bodyPr>
          <a:lstStyle/>
          <a:p>
            <a:r>
              <a:rPr lang="en-US" sz="3600" b="1" dirty="0"/>
              <a:t>High-Protein Benchmark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1549400"/>
            <a:ext cx="3310467" cy="3448050"/>
          </a:xfrm>
        </p:spPr>
        <p:txBody>
          <a:bodyPr>
            <a:normAutofit fontScale="85000" lnSpcReduction="10000"/>
          </a:bodyPr>
          <a:lstStyle/>
          <a:p>
            <a:endParaRPr lang="en-US" sz="2000" b="1" dirty="0">
              <a:solidFill>
                <a:srgbClr val="7030A0"/>
              </a:solidFill>
            </a:endParaRPr>
          </a:p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Find recipes that provide more protein than the average protein content of other recipes in the same calorie range.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This is a sophisticated analytical query that compares a row against a specific "peer group" rather than the whole table.</a:t>
            </a:r>
            <a:endParaRPr lang="en-IN" sz="2000" dirty="0"/>
          </a:p>
          <a:p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86B3A2-9FF5-7E4C-05AB-C4060AC5B6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038600" cy="33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7102D5-5C68-1662-12DB-91DEC2B7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3350"/>
            <a:ext cx="8229600" cy="857250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Speeding Up Search</a:t>
            </a:r>
            <a:br>
              <a:rPr lang="en-IN" dirty="0"/>
            </a:b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8BE811-FE0C-C0CB-D4A4-DFC6392D23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60600"/>
            <a:ext cx="40386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0FC866-6583-8DB7-EC2D-876E48B59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95451"/>
            <a:ext cx="4038600" cy="3752850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The app is lagging when users search for recipes by name. How do you optimize this?</a:t>
            </a:r>
            <a:endParaRPr lang="en-IN" sz="2000" dirty="0"/>
          </a:p>
          <a:p>
            <a:pPr marL="0" indent="0">
              <a:buNone/>
            </a:pPr>
            <a:endParaRPr lang="en-IN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Indexes allow the database to find rows without scanning every single record, which is vital as the Recipes table grows.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792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4932BF-1AFF-7D78-DC44-350A3738E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571501"/>
            <a:ext cx="7704667" cy="698499"/>
          </a:xfrm>
        </p:spPr>
        <p:txBody>
          <a:bodyPr>
            <a:normAutofit/>
          </a:bodyPr>
          <a:lstStyle/>
          <a:p>
            <a:r>
              <a:rPr lang="en-US" sz="3200" b="1" dirty="0"/>
              <a:t>Concurrent Access Management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575BA8-1E26-420E-D030-AB8296C1C2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12950"/>
            <a:ext cx="4038600" cy="253731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C866CA-AA8E-D833-5515-6F19516A2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2164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Requirement: </a:t>
            </a:r>
            <a:r>
              <a:rPr lang="en-US" sz="2200" dirty="0"/>
              <a:t>Two employees are editing the same recipe price simultaneously. How do you prevent data conflict?</a:t>
            </a:r>
            <a:endParaRPr lang="en-IN" sz="2200" dirty="0"/>
          </a:p>
          <a:p>
            <a:endParaRPr lang="en-IN" sz="2200" dirty="0"/>
          </a:p>
          <a:p>
            <a:r>
              <a:rPr lang="en-US" sz="2400" b="1" dirty="0">
                <a:solidFill>
                  <a:srgbClr val="7030A0"/>
                </a:solidFill>
              </a:rPr>
              <a:t>Insight: </a:t>
            </a:r>
            <a:r>
              <a:rPr lang="en-US" sz="2200" dirty="0"/>
              <a:t>Locking prevents "Other Level Employees" from modifying the data while a critical update is in progress, ensuring consistency.</a:t>
            </a:r>
            <a:endParaRPr lang="en-IN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558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293738-4735-E824-67D8-832A3590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200" b="1" dirty="0"/>
              <a:t>Cleaning Inactive Data</a:t>
            </a:r>
            <a:endParaRPr lang="en-IN" sz="32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047B26D-0D1A-CDA6-D6DF-F8A9FAF46A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9250" y="1543050"/>
            <a:ext cx="4038600" cy="287235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C52839-A800-C6CF-F980-9104103F1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97001"/>
            <a:ext cx="4038600" cy="360679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The manager wants to delete all recipes that have 0 reviews and were created over a year ago.</a:t>
            </a:r>
            <a:endParaRPr lang="en-IN" sz="2000" dirty="0"/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Periodically removing "dead weight" data keeps the database lean and performant.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960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C8784A-E693-5A05-EAAB-E45BF2AA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87351"/>
            <a:ext cx="7704667" cy="952499"/>
          </a:xfrm>
        </p:spPr>
        <p:txBody>
          <a:bodyPr>
            <a:normAutofit/>
          </a:bodyPr>
          <a:lstStyle/>
          <a:p>
            <a:r>
              <a:rPr lang="en-US" sz="3200" b="1" dirty="0"/>
              <a:t>Structural Evolution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0BF75-4B19-42A5-9611-3B5DC4EF0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2133" y="1638300"/>
            <a:ext cx="3437467" cy="386715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Requirement: </a:t>
            </a:r>
            <a:r>
              <a:rPr lang="en-US" sz="2200" dirty="0"/>
              <a:t>You realized that the </a:t>
            </a:r>
            <a:r>
              <a:rPr lang="en-US" sz="2200" dirty="0" err="1"/>
              <a:t>Review_Count</a:t>
            </a:r>
            <a:r>
              <a:rPr lang="en-US" sz="2200" dirty="0"/>
              <a:t> might eventually exceed the limit of a standard INT. How do you change it?</a:t>
            </a:r>
            <a:endParaRPr lang="en-IN" sz="2200" dirty="0"/>
          </a:p>
          <a:p>
            <a:endParaRPr lang="en-IN" sz="2200" dirty="0"/>
          </a:p>
          <a:p>
            <a:r>
              <a:rPr lang="en-US" sz="2400" b="1" dirty="0">
                <a:solidFill>
                  <a:srgbClr val="7030A0"/>
                </a:solidFill>
              </a:rPr>
              <a:t>Insight: </a:t>
            </a:r>
            <a:r>
              <a:rPr lang="en-US" sz="2200" dirty="0"/>
              <a:t>Shows how to evolve the database schema without losing existing data.</a:t>
            </a:r>
            <a:endParaRPr lang="en-IN" sz="2200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3EB2D3C-F226-CFF9-658C-F478707545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2012950"/>
            <a:ext cx="4038600" cy="283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0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727722-B025-FBC5-D387-5B34B9E4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288927"/>
            <a:ext cx="7704667" cy="1019173"/>
          </a:xfrm>
        </p:spPr>
        <p:txBody>
          <a:bodyPr>
            <a:normAutofit/>
          </a:bodyPr>
          <a:lstStyle/>
          <a:p>
            <a:r>
              <a:rPr lang="en-US" sz="3200" b="1" dirty="0"/>
              <a:t>Nutrition Density Summary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1E96E-EE6B-1FF0-999D-E69EA085E2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</a:t>
            </a:r>
            <a:endParaRPr lang="en-IN" sz="2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37B097-6F8C-4C0B-EF6C-3503A7841F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0050" y="1574800"/>
            <a:ext cx="4038600" cy="317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7506BC-ED6A-E44D-746C-3AD7BA81AD82}"/>
              </a:ext>
            </a:extLst>
          </p:cNvPr>
          <p:cNvSpPr txBox="1"/>
          <p:nvPr/>
        </p:nvSpPr>
        <p:spPr>
          <a:xfrm>
            <a:off x="4921250" y="1879600"/>
            <a:ext cx="34607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For each recipe, calculate the "Calorie Density"—total calories divided by servings—and group them by their rating.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IN" sz="2000" dirty="0"/>
              <a:t>This helps to find the </a:t>
            </a:r>
            <a:r>
              <a:rPr lang="en-US" sz="2000" dirty="0"/>
              <a:t>high-calorie meals &amp; low-calorie meals.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22254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6E1A68-D6F1-5282-4371-B97C0DA6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4862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Finding Most Ingredient-Heavy Recipes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6CF56-E604-D157-0D25-4B3230234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58900"/>
            <a:ext cx="4038600" cy="2933701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Identify recipes that use more than 6 ingredients.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HAVING filters grouped results after aggregation.</a:t>
            </a:r>
            <a:endParaRPr lang="en-IN" sz="2000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8AA310-4D72-85C6-17CD-5FD8A32FD6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58900"/>
            <a:ext cx="4038600" cy="28447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4543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3682A1-2F38-5590-0760-39A2DA7C4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87351"/>
            <a:ext cx="7704667" cy="730249"/>
          </a:xfrm>
        </p:spPr>
        <p:txBody>
          <a:bodyPr>
            <a:normAutofit/>
          </a:bodyPr>
          <a:lstStyle/>
          <a:p>
            <a:r>
              <a:rPr lang="en-US" sz="3200" b="1" dirty="0"/>
              <a:t>Cheapest Recipe Available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9E10E2-2B91-E36B-49B7-358D0861F9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3400" y="1593850"/>
            <a:ext cx="4038600" cy="260985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781EF3-7793-5F87-270B-ECC2605AF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93851"/>
            <a:ext cx="4038600" cy="2889250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Find the lowest-priced recipe.</a:t>
            </a:r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Subquery finds minimum value; outer query retrieves details.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5488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190E1-0714-C4C6-24B9-0DAAB64B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87351"/>
            <a:ext cx="7704667" cy="736599"/>
          </a:xfrm>
        </p:spPr>
        <p:txBody>
          <a:bodyPr>
            <a:normAutofit/>
          </a:bodyPr>
          <a:lstStyle/>
          <a:p>
            <a:r>
              <a:rPr lang="en-US" sz="3200" b="1" dirty="0"/>
              <a:t>Recipes Without Ingredients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94E1B-1DC2-2240-BDE8-64AFF45D8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38250"/>
            <a:ext cx="4038600" cy="2336801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Find recipes that have no ingredients listed.</a:t>
            </a:r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Detects missing related records</a:t>
            </a:r>
            <a:endParaRPr lang="en-IN" sz="2000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FA5D8B-BE73-1146-885F-DBD153BD51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38251"/>
            <a:ext cx="4038600" cy="316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6091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C38AB8-92B8-8B50-C472-C8ECAE1C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292101"/>
            <a:ext cx="7704667" cy="958850"/>
          </a:xfrm>
        </p:spPr>
        <p:txBody>
          <a:bodyPr>
            <a:normAutofit/>
          </a:bodyPr>
          <a:lstStyle/>
          <a:p>
            <a:r>
              <a:rPr lang="en-US" sz="3200" b="1" dirty="0"/>
              <a:t>Average Cooking Time by Servings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6C6C47-131A-ACD8-5B92-34435862A9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784350"/>
            <a:ext cx="4038600" cy="293428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0AA3CC-B729-F320-263A-6E8BED0F3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6904" y="1866900"/>
            <a:ext cx="3739896" cy="2851730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Analyze average cooking time based on servings.</a:t>
            </a:r>
            <a:endParaRPr lang="en-IN" sz="2000" dirty="0"/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Groups recipes and calculates average per category.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895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33EB22-D035-7B7C-BCD8-2EB27D47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68301"/>
            <a:ext cx="7704667" cy="939800"/>
          </a:xfrm>
        </p:spPr>
        <p:txBody>
          <a:bodyPr>
            <a:normAutofit/>
          </a:bodyPr>
          <a:lstStyle/>
          <a:p>
            <a:r>
              <a:rPr lang="en-US" sz="3200" b="1" dirty="0"/>
              <a:t>Highest Protein Recipe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D707-4A75-EEE2-D942-985186AC0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09751"/>
            <a:ext cx="4038600" cy="2590800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Find recipe with maximum protein.</a:t>
            </a:r>
            <a:endParaRPr lang="en-IN" sz="2000" dirty="0"/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Identifies top nutritional value.</a:t>
            </a:r>
            <a:endParaRPr lang="en-IN" sz="2000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4E5FBE-BA86-7E9A-EEF8-55D665D4E8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51000"/>
            <a:ext cx="4038600" cy="3022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2224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39751"/>
            <a:ext cx="7704667" cy="698499"/>
          </a:xfrm>
        </p:spPr>
        <p:txBody>
          <a:bodyPr>
            <a:normAutofit/>
          </a:bodyPr>
          <a:lstStyle/>
          <a:p>
            <a:r>
              <a:rPr lang="en-US" sz="3200" b="1" dirty="0"/>
              <a:t>Recipes Created This Month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  <a:p>
            <a:endParaRPr lang="en-IN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E84D90-1472-7367-CDEC-610E7A4BD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66700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Retrieve recipes created in the current month.</a:t>
            </a:r>
          </a:p>
          <a:p>
            <a:endParaRPr lang="en-US" sz="1800" dirty="0"/>
          </a:p>
          <a:p>
            <a:endParaRPr lang="en-IN" sz="1800" dirty="0"/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US" sz="1800" dirty="0"/>
              <a:t>Filters by current system date.</a:t>
            </a:r>
            <a:endParaRPr lang="en-IN" sz="18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8056C-A889-5BC8-CB48-957E0DA3C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676401"/>
            <a:ext cx="3800476" cy="345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51B019-FE5B-7347-6120-31D65052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44501"/>
            <a:ext cx="7704667" cy="755649"/>
          </a:xfrm>
        </p:spPr>
        <p:txBody>
          <a:bodyPr>
            <a:normAutofit/>
          </a:bodyPr>
          <a:lstStyle/>
          <a:p>
            <a:r>
              <a:rPr lang="en-US" sz="3200" b="1" dirty="0"/>
              <a:t>Counting Total Ingredients Used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E8AD6-D1BF-3747-A7DD-A292F3553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27200"/>
            <a:ext cx="4038600" cy="3149599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Count total ingredient entries in database.</a:t>
            </a:r>
            <a:endParaRPr lang="en-IN" sz="2000" dirty="0"/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Counts all rows.</a:t>
            </a:r>
            <a:endParaRPr lang="en-IN" sz="2000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4030E3-C0A4-EC55-E550-C7E0E1659F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727200"/>
            <a:ext cx="4038600" cy="3077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9530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3036F6-7F6D-06BA-51B5-5429A64A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850" y="222251"/>
            <a:ext cx="7473950" cy="869950"/>
          </a:xfrm>
        </p:spPr>
        <p:txBody>
          <a:bodyPr>
            <a:normAutofit/>
          </a:bodyPr>
          <a:lstStyle/>
          <a:p>
            <a:r>
              <a:rPr lang="en-US" sz="3200" b="1" dirty="0"/>
              <a:t>Recipes Above Average Price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6D91A5-ABF5-EAAE-86E4-1874A786DB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301750"/>
            <a:ext cx="4038600" cy="353246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D30057-B6EC-ACB2-44C9-EC0A822BB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04951"/>
            <a:ext cx="4038600" cy="2597150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Find recipes costing more than average.</a:t>
            </a:r>
            <a:endParaRPr lang="en-IN" sz="2000" dirty="0"/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Compares row with global average.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657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A94375-90C2-988C-87EA-4E7ED31A8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46051"/>
            <a:ext cx="7704667" cy="1009649"/>
          </a:xfrm>
        </p:spPr>
        <p:txBody>
          <a:bodyPr>
            <a:normAutofit/>
          </a:bodyPr>
          <a:lstStyle/>
          <a:p>
            <a:r>
              <a:rPr lang="en-US" sz="3200" b="1" dirty="0"/>
              <a:t>Ingredient Frequency Analysis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74A55-EB8D-B275-2218-4F3D7C7AF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2133" y="1752600"/>
            <a:ext cx="3437467" cy="2819400"/>
          </a:xfrm>
        </p:spPr>
        <p:txBody>
          <a:bodyPr/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Find most commonly used ingredient.</a:t>
            </a:r>
            <a:endParaRPr lang="en-IN" sz="2000" dirty="0"/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Frequency analysis.</a:t>
            </a:r>
            <a:endParaRPr lang="en-IN" sz="2000" dirty="0"/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D2EF95-7265-07D8-3436-8A1CFB1AFD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752600"/>
            <a:ext cx="4038600" cy="2918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782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6155E2-E6D3-C9C3-628F-7AE83CE0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19101"/>
            <a:ext cx="7704667" cy="819149"/>
          </a:xfrm>
        </p:spPr>
        <p:txBody>
          <a:bodyPr>
            <a:normAutofit/>
          </a:bodyPr>
          <a:lstStyle/>
          <a:p>
            <a:r>
              <a:rPr lang="en-US" sz="3200" b="1" dirty="0"/>
              <a:t>Sorting Recipes by Rating and Price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DB118-52A7-46B2-DA81-8B8760282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62151"/>
            <a:ext cx="4038600" cy="241935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000" dirty="0"/>
              <a:t>Show best-rated cheapest recipes first.</a:t>
            </a:r>
            <a:endParaRPr lang="en-IN" sz="2000" dirty="0"/>
          </a:p>
          <a:p>
            <a:endParaRPr lang="en-IN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000" dirty="0"/>
              <a:t>It sorts those specific 5-star recipes from the cheapest to the most expensive.</a:t>
            </a:r>
            <a:endParaRPr lang="en-IN" sz="2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D5CABC-2E62-CA6F-88BA-CE2A1911F2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701800"/>
            <a:ext cx="4038600" cy="30853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3088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6C8A7B-BCF9-1AD3-91F1-BB2860B5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590551"/>
            <a:ext cx="7704667" cy="882650"/>
          </a:xfrm>
        </p:spPr>
        <p:txBody>
          <a:bodyPr>
            <a:normAutofit/>
          </a:bodyPr>
          <a:lstStyle/>
          <a:p>
            <a:r>
              <a:rPr lang="en-IN" sz="3200" b="1" dirty="0"/>
              <a:t>The "Inflation Adjustment" Tool</a:t>
            </a:r>
            <a:endParaRPr lang="en-IN" sz="32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5F5443-9AF5-F9F1-9E51-7105DFEDA3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746250"/>
            <a:ext cx="4038600" cy="211455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510C5C-8A56-C7A5-ADE9-A5CDDBE4A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6904" y="1866900"/>
            <a:ext cx="3739896" cy="4146924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IN" sz="1800" dirty="0"/>
              <a:t>The kitchen manager noticed that meat prices have risen by 10%. Instead of manually updating every single recipe price, they want a way to increase prices for a specific category of food by a percentage.</a:t>
            </a:r>
          </a:p>
          <a:p>
            <a:endParaRPr lang="en-IN" dirty="0"/>
          </a:p>
          <a:p>
            <a:r>
              <a:rPr lang="en-US" sz="1800" b="1" dirty="0">
                <a:solidFill>
                  <a:srgbClr val="7030A0"/>
                </a:solidFill>
              </a:rPr>
              <a:t>Insight: </a:t>
            </a:r>
            <a:r>
              <a:rPr lang="en-IN" sz="1800" dirty="0"/>
              <a:t>Create a stored procedure that takes an </a:t>
            </a:r>
            <a:r>
              <a:rPr lang="en-IN" sz="1800" b="1" dirty="0">
                <a:solidFill>
                  <a:srgbClr val="7030A0"/>
                </a:solidFill>
              </a:rPr>
              <a:t>Ingredient Keyword</a:t>
            </a:r>
            <a:r>
              <a:rPr lang="en-IN" sz="1800" dirty="0"/>
              <a:t> (e.g., 'Chicken') and a </a:t>
            </a:r>
            <a:r>
              <a:rPr lang="en-IN" sz="1800" b="1" dirty="0">
                <a:solidFill>
                  <a:srgbClr val="7030A0"/>
                </a:solidFill>
              </a:rPr>
              <a:t>Percentage</a:t>
            </a:r>
            <a:r>
              <a:rPr lang="en-IN" sz="1800" dirty="0"/>
              <a:t> (e.g., 10.00) and increases the </a:t>
            </a:r>
            <a:r>
              <a:rPr lang="en-IN" sz="1800" dirty="0" err="1"/>
              <a:t>Price_USD</a:t>
            </a:r>
            <a:r>
              <a:rPr lang="en-IN" sz="1800" dirty="0"/>
              <a:t> of every recipe containing that ingredient.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891B0C-06D7-696B-251D-E1B601D0F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89592"/>
            <a:ext cx="3829050" cy="6749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64C960-7DEB-100F-4980-599E2A281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" y="4829682"/>
            <a:ext cx="3965575" cy="77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96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A73AE0-4126-1005-6B70-EA85D5CDB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825499"/>
          </a:xfrm>
        </p:spPr>
        <p:txBody>
          <a:bodyPr>
            <a:normAutofit/>
          </a:bodyPr>
          <a:lstStyle/>
          <a:p>
            <a:r>
              <a:rPr lang="en-US" sz="3200" dirty="0"/>
              <a:t>The "Health Audit" Report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5C22A-B7EF-2973-0269-E9D923C66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2133" y="1714315"/>
            <a:ext cx="3405717" cy="3816535"/>
          </a:xfrm>
        </p:spPr>
        <p:txBody>
          <a:bodyPr>
            <a:normAutofit fontScale="92500" lnSpcReduction="20000"/>
          </a:bodyPr>
          <a:lstStyle/>
          <a:p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sz="1800" b="1" dirty="0">
                <a:solidFill>
                  <a:srgbClr val="7030A0"/>
                </a:solidFill>
              </a:rPr>
              <a:t>Requirement: </a:t>
            </a:r>
            <a:r>
              <a:rPr lang="en-US" sz="1800" dirty="0"/>
              <a:t>The nutritionist needs to quickly identify if a specific recipe is "High Calorie." Manually checking the Nutrition and Recipes tables for every dish is too slow.</a:t>
            </a:r>
          </a:p>
          <a:p>
            <a:endParaRPr lang="en-IN" sz="1800" dirty="0"/>
          </a:p>
          <a:p>
            <a:r>
              <a:rPr lang="en-US" sz="1800" b="1" dirty="0">
                <a:solidFill>
                  <a:srgbClr val="7030A0"/>
                </a:solidFill>
              </a:rPr>
              <a:t>Insight: S</a:t>
            </a:r>
            <a:r>
              <a:rPr lang="en-US" sz="1800" dirty="0"/>
              <a:t>tored procedure that takes a </a:t>
            </a:r>
            <a:r>
              <a:rPr lang="en-US" b="1" dirty="0">
                <a:solidFill>
                  <a:srgbClr val="7030A0"/>
                </a:solidFill>
              </a:rPr>
              <a:t>Recipe ID </a:t>
            </a:r>
            <a:r>
              <a:rPr lang="en-US" sz="1800" dirty="0"/>
              <a:t>and returns a status message. If the calories per serving are greater than 800, it should return "High Calorie"; otherwise, it should return "Standard."</a:t>
            </a:r>
            <a:endParaRPr lang="en-IN" sz="1800" dirty="0"/>
          </a:p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8F49D33-B77F-5220-6344-873A5D17C3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63492" y="1714315"/>
            <a:ext cx="2709617" cy="2603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D26ECF-690A-2D23-6DEE-4BDBBD87A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1" y="4520832"/>
            <a:ext cx="2012950" cy="1439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61EC3D-C689-0E36-36EF-8B9C3F32D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852" y="4520832"/>
            <a:ext cx="2028181" cy="134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92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A6D73E-67F0-A626-5312-A7678F1B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203201"/>
            <a:ext cx="7704667" cy="977899"/>
          </a:xfrm>
        </p:spPr>
        <p:txBody>
          <a:bodyPr>
            <a:normAutofit/>
          </a:bodyPr>
          <a:lstStyle/>
          <a:p>
            <a:r>
              <a:rPr lang="en-US" sz="3200" b="1" dirty="0"/>
              <a:t>Exporting to Web Apps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7D2CB-2FB6-FE63-8CBB-5AF520FD0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58775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Requirement: </a:t>
            </a:r>
            <a:r>
              <a:rPr lang="en-US" sz="2200" dirty="0"/>
              <a:t>A partner website needs our recipe data in JSON format for their API.</a:t>
            </a:r>
            <a:endParaRPr lang="en-IN" sz="2200" dirty="0"/>
          </a:p>
          <a:p>
            <a:endParaRPr lang="en-IN" sz="2200" dirty="0"/>
          </a:p>
          <a:p>
            <a:r>
              <a:rPr lang="en-US" sz="2000" b="1" dirty="0">
                <a:solidFill>
                  <a:srgbClr val="7030A0"/>
                </a:solidFill>
              </a:rPr>
              <a:t>Insight: </a:t>
            </a:r>
            <a:r>
              <a:rPr lang="en-US" sz="2200" dirty="0"/>
              <a:t>Demonstrates modern SQL capabilities where relational data is bridged with web-standard formats like JSON.</a:t>
            </a:r>
            <a:endParaRPr lang="en-IN" sz="2200" dirty="0"/>
          </a:p>
          <a:p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FB8BA8-2CAE-85A2-705A-417CFEB3E5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8AD879-F396-20E6-0585-AF928C4DC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435099"/>
            <a:ext cx="4318000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2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3EC6D6-742E-FA2F-AEF7-80A641002F65}"/>
              </a:ext>
            </a:extLst>
          </p:cNvPr>
          <p:cNvSpPr txBox="1"/>
          <p:nvPr/>
        </p:nvSpPr>
        <p:spPr>
          <a:xfrm>
            <a:off x="987552" y="950976"/>
            <a:ext cx="8019288" cy="514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Summary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Recipe Manager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database-driven application designed to streamline kitchen operations, nutritional analysis, and menu management. The project focuses on transforming raw culinary data into actionable insights through a normalized relational database.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functionalities demonstrated in the project include: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Operational Efficiency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Tools for ingredient inventory management, such as counting unique recipes for specific ingredients to assist in bulk purchasing.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User-Centric Features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"Quick-fix" meal identification for users with limited time and specific ingredient constraints.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Intelligence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High-value menu analysis that correlates pricing tiers with customer satisfaction (ratings) to help owners optimize their menus.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Integrity and Maintenance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Implementation of automated "Data Gap" audits to find missing nutritional information and the use of constraints to prevent invalid data entry (e.g., negative prices or ratings over 5).</a:t>
            </a:r>
          </a:p>
        </p:txBody>
      </p:sp>
    </p:spTree>
    <p:extLst>
      <p:ext uri="{BB962C8B-B14F-4D97-AF65-F5344CB8AC3E}">
        <p14:creationId xmlns:p14="http://schemas.microsoft.com/office/powerpoint/2010/main" val="35623307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72C75E-7FCD-9028-4E3F-9C53B54BB901}"/>
              </a:ext>
            </a:extLst>
          </p:cNvPr>
          <p:cNvSpPr txBox="1"/>
          <p:nvPr/>
        </p:nvSpPr>
        <p:spPr>
          <a:xfrm>
            <a:off x="1069848" y="457200"/>
            <a:ext cx="7534656" cy="5333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Optimization: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 of B-Tree indexes to speed up recipe searches and "Views" to simplify complex queries for front-end developers.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 Automation: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Stored procedures for dynamic tasks, such as bulk inflation adjustments based on specific ingredients and automated health audits to categorize recipes by calorie density.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Recipe Manager successfully demonstrates the power of a well-structured SQL database in a modern culinary environment. By bridging the gap between relational data and practical applications—such as JSON exports for web APIs and sophisticated analytical subqueries—the project ensures that a kitchen can remain both data-informed and operationally lean. Ultimately, the system provides a robust framework for managing data growth while maintaining high standards of data accuracy and retrieval speed.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823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6887D0-917F-59D3-06AF-56E7DD09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676656"/>
            <a:ext cx="7704667" cy="4398263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rgbClr val="FFFF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</a:t>
            </a:r>
            <a:endParaRPr lang="en-IN" sz="9600" b="1" dirty="0">
              <a:solidFill>
                <a:srgbClr val="FFFF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511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931</TotalTime>
  <Words>1843</Words>
  <Application>Microsoft Office PowerPoint</Application>
  <PresentationFormat>On-screen Show (4:3)</PresentationFormat>
  <Paragraphs>166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ADLaM Display</vt:lpstr>
      <vt:lpstr>Arial</vt:lpstr>
      <vt:lpstr>Calibri</vt:lpstr>
      <vt:lpstr>Calibri Light</vt:lpstr>
      <vt:lpstr>Corbel</vt:lpstr>
      <vt:lpstr>Symbol</vt:lpstr>
      <vt:lpstr>Parallax</vt:lpstr>
      <vt:lpstr>  NIIT  Batch : MARCH-2026 “RECIPE -MANAGER”  </vt:lpstr>
      <vt:lpstr> OBJECTIVE:   The Recipe Master Database Project is a comprehensive relational database management system (RDBMS) designed to store, manage, and analyse culinary data.  With this SQL structure, the project enables advanced business and culinary insights, such as:  Nutritional Analysis: Finding high-protein/low-carb meals or calculating average calories per serving category.  Financial Insights: Identifying the most cost-effective recipes based on price-to-serving ratios.  Popularity Trends: Analysing which recipes receive the highest ratings relative to their review volume.  Inventory/Ingredient Mapping: Instantly generating shopping lists or finding recipes that use specific overlapping ingredients (e.g., "Find all recipes using Eggs and Flour").   Data Cleaning / Normalisation:    Successfully converted a "flat" dataset into a relational model. By separating ingredients into a different tables. Converted strings into DECIMAL(10,2) for financial accuracy. Formatted timestamps into proper DATETIME objects for chronological analysis. </vt:lpstr>
      <vt:lpstr> ERD Diagram: </vt:lpstr>
      <vt:lpstr>Ingredient Inventory Management</vt:lpstr>
      <vt:lpstr>   Low-Stock “Quick Fix Meals   </vt:lpstr>
      <vt:lpstr>High-Value Menu Analysis</vt:lpstr>
      <vt:lpstr>Identifying "Data Gaps"</vt:lpstr>
      <vt:lpstr>Most Popular "Efficiency" Recipes</vt:lpstr>
      <vt:lpstr>Automating Frequent Searches </vt:lpstr>
      <vt:lpstr>Preventing "Garbage Data" (Constraints)</vt:lpstr>
      <vt:lpstr>Analyzing Yearly Content Growth</vt:lpstr>
      <vt:lpstr>Recipes With Same Cooking Time</vt:lpstr>
      <vt:lpstr>Multi-Criteria Search (Complexity)</vt:lpstr>
      <vt:lpstr>Dynamic Menu Labels</vt:lpstr>
      <vt:lpstr>Seasonal Price Update</vt:lpstr>
      <vt:lpstr>High-Protein Benchmark</vt:lpstr>
      <vt:lpstr> Speeding Up Search </vt:lpstr>
      <vt:lpstr>Concurrent Access Management</vt:lpstr>
      <vt:lpstr>Cleaning Inactive Data</vt:lpstr>
      <vt:lpstr>Structural Evolution</vt:lpstr>
      <vt:lpstr>Nutrition Density Summary</vt:lpstr>
      <vt:lpstr> Finding Most Ingredient-Heavy Recipes </vt:lpstr>
      <vt:lpstr>Cheapest Recipe Available</vt:lpstr>
      <vt:lpstr>Recipes Without Ingredients</vt:lpstr>
      <vt:lpstr>Average Cooking Time by Servings</vt:lpstr>
      <vt:lpstr>Highest Protein Recipe</vt:lpstr>
      <vt:lpstr>Recipes Created This Month</vt:lpstr>
      <vt:lpstr>Counting Total Ingredients Used</vt:lpstr>
      <vt:lpstr>Recipes Above Average Price</vt:lpstr>
      <vt:lpstr>Ingredient Frequency Analysis</vt:lpstr>
      <vt:lpstr>Sorting Recipes by Rating and Price</vt:lpstr>
      <vt:lpstr>The "Inflation Adjustment" Tool</vt:lpstr>
      <vt:lpstr>The "Health Audit" Report</vt:lpstr>
      <vt:lpstr>Exporting to Web Apps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PALANIAPPAN M</dc:creator>
  <cp:keywords/>
  <dc:description>generated using python-pptx</dc:description>
  <cp:lastModifiedBy>Victor xavier vijay</cp:lastModifiedBy>
  <cp:revision>4</cp:revision>
  <dcterms:created xsi:type="dcterms:W3CDTF">2013-01-27T09:14:16Z</dcterms:created>
  <dcterms:modified xsi:type="dcterms:W3CDTF">2026-10-21T07:17:00Z</dcterms:modified>
  <cp:category/>
</cp:coreProperties>
</file>